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2" Type="http://schemas.openxmlformats.org/officeDocument/2006/relationships/theme" Target="../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838200" y="2130425"/>
            <a:ext cx="10515600" cy="1470025"/>
          </a:xfrm>
        </p:spPr>
        <p:txBody>
          <a:bodyPr/>
          <a:lstStyle/>
          <a:p>
            <a:pPr algn="ctr"/>
            <a:r>
              <a:rPr lang="ja-JP" sz="4000" b="1">
                <a:solidFill>
                  <a:srgbClr val="1F2937"/>
                </a:solidFill>
              </a:rPr>
              <a:t>Title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838200" y="3600450"/>
            <a:ext cx="10515600" cy="1584325"/>
          </a:xfrm>
        </p:spPr>
        <p:txBody>
          <a:bodyPr/>
          <a:lstStyle/>
          <a:p>
            <a:pPr algn="ctr"/>
            <a:r>
              <a:rPr lang="ja-JP" sz="2000">
                <a:solidFill>
                  <a:srgbClr val="4B5563"/>
                </a:solidFill>
              </a:rPr>
              <a:t>Subtitle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914400"/>
          </a:xfrm>
        </p:spPr>
        <p:txBody>
          <a:bodyPr/>
          <a:lstStyle/>
          <a:p>
            <a:r>
              <a:rPr lang="ja-JP" sz="2800" b="1">
                <a:solidFill>
                  <a:srgbClr val="1F2937"/>
                </a:solidFill>
              </a:rPr>
              <a:t>Title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11277600" cy="5108575"/>
          </a:xfrm>
        </p:spPr>
        <p:txBody>
          <a:bodyPr/>
          <a:lstStyle/>
          <a:p>
            <a:r>
              <a:rPr lang="ja-JP"/>
              <a:t>Content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533400" y="274638"/>
            <a:ext cx="11125200" cy="1143000"/>
          </a:xfrm>
        </p:spPr>
        <p:txBody>
          <a:bodyPr/>
          <a:lstStyle/>
          <a:p>
            <a:r>
              <a:rPr lang="ja-JP"/>
              <a:t>Master title</a:t>
            </a:r>
          </a:p>
        </p:txBody>
      </p:sp>
      <p:sp>
        <p:nvSpPr>
          <p:cNvPr id="3" name="Body Placeholder"/>
          <p:cNvSpPr>
            <a:spLocks noGrp="1"/>
          </p:cNvSpPr>
          <p:nvPr>
            <p:ph type="body" idx="1"/>
          </p:nvPr>
        </p:nvSpPr>
        <p:spPr>
          <a:xfrm>
            <a:off x="533400" y="1600200"/>
            <a:ext cx="11125200" cy="4800600"/>
          </a:xfrm>
        </p:spPr>
        <p:txBody>
          <a:bodyPr/>
          <a:lstStyle/>
          <a:p>
            <a:r>
              <a:rPr lang="ja-JP"/>
              <a:t>Master body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ja-JP" sz="4000" b="1" dirty="0">
                <a:solidFill>
                  <a:srgbClr val="1F2937"/>
                </a:solidFill>
              </a:rPr>
              <a:t>Unikraft/nginx VMIシステムコール監視</a:t>
            </a:r>
          </a:p>
          <a:p>
            <a:pPr algn="ctr"/>
            <a:r>
              <a:rPr lang="ja-JP" sz="4000" b="1" dirty="0">
                <a:solidFill>
                  <a:srgbClr val="1F2937"/>
                </a:solidFill>
              </a:rPr>
              <a:t>進捗報告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ja-JP" sz="1800" dirty="0">
                <a:solidFill>
                  <a:srgbClr val="4B5563"/>
                </a:solidFill>
              </a:rPr>
              <a:t>そもそもシステムコールを監視する必要はあるのか？ ｜ 2026-07-07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sz="2800" b="1" dirty="0">
                <a:solidFill>
                  <a:srgbClr val="1F2937"/>
                </a:solidFill>
              </a:rPr>
              <a:t>本日のアジェンダ</a:t>
            </a:r>
          </a:p>
        </p:txBody>
      </p:sp>
      <p:sp>
        <p:nvSpPr>
          <p:cNvPr id="3" name="Conten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Font typeface="Arial"/>
              <a:buChar char="•"/>
            </a:pPr>
            <a:r>
              <a:rPr lang="ja-JP" sz="2000" dirty="0"/>
              <a:t>0. そもそもシステムコールを監視する必要があるのか</a:t>
            </a:r>
          </a:p>
          <a:p>
            <a:pPr marL="342900" lvl="0" indent="-342900">
              <a:buFont typeface="Arial"/>
              <a:buChar char="•"/>
            </a:pPr>
            <a:r>
              <a:rPr lang="ja-JP" sz="2000" dirty="0"/>
              <a:t>1. Unikraftではsyscallがどのように変換されるのか</a:t>
            </a:r>
          </a:p>
          <a:p>
            <a:pPr marL="342900" lvl="0" indent="-342900">
              <a:buFont typeface="Arial"/>
              <a:buChar char="•"/>
            </a:pPr>
            <a:r>
              <a:rPr lang="ja-JP" sz="2000" dirty="0"/>
              <a:t>2. 変換された関数はゲスト側でどう実行されるのか</a:t>
            </a:r>
          </a:p>
          <a:p>
            <a:pPr marL="342900" lvl="0" indent="-342900">
              <a:buFont typeface="Arial"/>
              <a:buChar char="•"/>
            </a:pPr>
            <a:r>
              <a:rPr lang="ja-JP" sz="2000" dirty="0"/>
              <a:t>3. (2)はホスト側でどう実行されるのか</a:t>
            </a:r>
          </a:p>
          <a:p>
            <a:pPr marL="342900" lvl="0" indent="-342900">
              <a:buFont typeface="Arial"/>
              <a:buChar char="•"/>
            </a:pPr>
            <a:r>
              <a:rPr lang="ja-JP" sz="2000" dirty="0"/>
              <a:t>4. 引き続きLibVMIで監視できるのか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sz="2800" b="1" dirty="0">
                <a:solidFill>
                  <a:srgbClr val="1F2937"/>
                </a:solidFill>
              </a:rPr>
              <a:t>0. そもそも監視は必要か</a:t>
            </a:r>
          </a:p>
        </p:txBody>
      </p:sp>
      <p:sp>
        <p:nvSpPr>
          <p:cNvPr id="3" name="Conten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Font typeface="Arial"/>
              <a:buChar char="•"/>
            </a:pPr>
            <a:r>
              <a:rPr lang="ja-JP" sz="2000" dirty="0"/>
              <a:t>Unikraftには既にCONFIG_LIBSYSCALL_SHIM_STRACE（ゲスト内strace）が存在</a:t>
            </a:r>
          </a:p>
          <a:p>
            <a:pPr marL="685800" lvl="1" indent="-342900">
              <a:buFont typeface="Arial"/>
              <a:buChar char="–"/>
            </a:pPr>
            <a:r>
              <a:rPr lang="ja-JP" sz="1700" dirty="0"/>
              <a:t>「システムコールを見る」だけならこれで足りる</a:t>
            </a:r>
          </a:p>
          <a:p>
            <a:pPr marL="342900" lvl="0" indent="-342900">
              <a:buFont typeface="Arial"/>
              <a:buChar char="•"/>
            </a:pPr>
            <a:r>
              <a:rPr lang="ja-JP" sz="2000" dirty="0"/>
              <a:t>しかしこれは「ゲスト自身が自分の挙動を報告する」自己申告方式</a:t>
            </a:r>
          </a:p>
          <a:p>
            <a:pPr marL="685800" lvl="1" indent="-342900">
              <a:buFont typeface="Arial"/>
              <a:buChar char="–"/>
            </a:pPr>
            <a:r>
              <a:rPr lang="ja-JP" sz="1700" dirty="0"/>
              <a:t>ゲストが侵害・改造された場合は信頼できない（agentベース観測の限界）</a:t>
            </a:r>
          </a:p>
          <a:p>
            <a:pPr marL="342900" lvl="0" indent="-342900">
              <a:buFont typeface="Arial"/>
              <a:buChar char="•"/>
            </a:pPr>
            <a:r>
              <a:rPr lang="ja-JP" sz="2000" dirty="0"/>
              <a:t>VMIはゲストの自己申告に依存せず、ハードウェア境界の外（ホスト側）から事実を観測</a:t>
            </a:r>
          </a:p>
          <a:p>
            <a:pPr marL="342900" lvl="0" indent="-342900">
              <a:buFont typeface="Arial"/>
              <a:buChar char="•"/>
            </a:pPr>
            <a:r>
              <a:rPr lang="ja-JP" sz="2000" dirty="0"/>
              <a:t>3章で示す通り、Unikraftのバイナリ互換 syscall はデフォルトでホストに一切見えない（VM Exitを起こさない）</a:t>
            </a:r>
          </a:p>
          <a:p>
            <a:pPr marL="342900" lvl="0" indent="-342900">
              <a:buFont typeface="Arial"/>
              <a:buChar char="•"/>
            </a:pPr>
            <a:r>
              <a:rPr lang="ja-JP" sz="2000" b="1" dirty="0"/>
              <a:t>結論: ホスト外部からの観測（VMI）が必要な理由は、Unikraftのsyscallがホストに素通しで見えるわけではないから</a:t>
            </a:r>
          </a:p>
        </p:txBody>
      </p:sp>
      <p:sp>
        <p:nvSpPr>
          <p:cNvPr id="9" name="Tag"/>
          <p:cNvSpPr/>
          <p:nvPr/>
        </p:nvSpPr>
        <p:spPr>
          <a:xfrm>
            <a:off x="9448800" y="274638"/>
            <a:ext cx="2286000" cy="45720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txBody>
          <a:bodyPr anchor="ctr"/>
          <a:lstStyle/>
          <a:p>
            <a:pPr algn="ctr"/>
            <a:r>
              <a:rPr lang="ja-JP" sz="1200" b="1">
                <a:solidFill>
                  <a:srgbClr val="2563EB"/>
                </a:solidFill>
              </a:rPr>
              <a:t>必要性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sz="2800" b="1" dirty="0">
                <a:solidFill>
                  <a:srgbClr val="1F2937"/>
                </a:solidFill>
              </a:rPr>
              <a:t>1. Unikraftでのsyscall変換メカニズム</a:t>
            </a:r>
          </a:p>
        </p:txBody>
      </p:sp>
      <p:sp>
        <p:nvSpPr>
          <p:cNvPr id="3" name="Conten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Font typeface="Arial"/>
              <a:buChar char="•"/>
            </a:pPr>
            <a:r>
              <a:rPr lang="ja-JP" sz="2000" dirty="0"/>
              <a:t>根拠ファイル: plat/common/include/x86/cpu.h:269-279</a:t>
            </a:r>
          </a:p>
          <a:p>
            <a:pPr marL="685800" lvl="1" indent="-342900">
              <a:buFont typeface="Arial"/>
              <a:buChar char="–"/>
            </a:pPr>
            <a:r>
              <a:rPr lang="ja-JP" sz="1700" dirty="0"/>
              <a:t>wrmsrl(STAR, CS/SS両方0x08) / wrmsrl(LSTAR, _ukplat_syscall)</a:t>
            </a:r>
          </a:p>
          <a:p>
            <a:pPr marL="342900" lvl="0" indent="-342900">
              <a:buFont typeface="Arial"/>
              <a:buChar char="•"/>
            </a:pPr>
            <a:r>
              <a:rPr lang="ja-JP" sz="2000" dirty="0"/>
              <a:t>STARのCS/SSセレクタが両方0x08＝リング0固定。ring3→ring0の特権遷移は存在しない</a:t>
            </a:r>
          </a:p>
          <a:p>
            <a:pPr marL="342900" lvl="0" indent="-342900">
              <a:buFont typeface="Arial"/>
              <a:buChar char="•"/>
            </a:pPr>
            <a:r>
              <a:rPr lang="ja-JP" sz="2000" dirty="0"/>
              <a:t>syscall命令はハードウェア的にRIPをLSTARへ差し替えるだけの命令レベルジャンプ</a:t>
            </a:r>
          </a:p>
          <a:p>
            <a:pPr marL="342900" lvl="0" indent="-342900">
              <a:buFont typeface="Arial"/>
              <a:buChar char="•"/>
            </a:pPr>
            <a:r>
              <a:rPr lang="ja-JP" sz="2000" dirty="0"/>
              <a:t>実行順序: nginxのsyscall命令 → CPUがLSTARへjump (_ukplat_syscall) → syscall.Sがトラップフレーム構築 → ukplat_syscall_handler() → uk_syscall6_do_e()がraxでディスパッチ → uk_syscall_r_&lt;name&gt;()</a:t>
            </a:r>
          </a:p>
          <a:p>
            <a:pPr marL="342900" lvl="0" indent="-342900">
              <a:buFont typeface="Arial"/>
              <a:buChar char="•"/>
            </a:pPr>
            <a:r>
              <a:rPr lang="ja-JP" sz="2000" b="1" dirty="0"/>
              <a:t>ここまで全部、同一アドレス空間・同一リング内の関数呼び出し連鎖</a:t>
            </a:r>
          </a:p>
        </p:txBody>
      </p:sp>
      <p:sp>
        <p:nvSpPr>
          <p:cNvPr id="9" name="Tag"/>
          <p:cNvSpPr/>
          <p:nvPr/>
        </p:nvSpPr>
        <p:spPr>
          <a:xfrm>
            <a:off x="9448800" y="274638"/>
            <a:ext cx="2286000" cy="45720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txBody>
          <a:bodyPr anchor="ctr"/>
          <a:lstStyle/>
          <a:p>
            <a:pPr algn="ctr"/>
            <a:r>
              <a:rPr lang="ja-JP" sz="1200" b="1">
                <a:solidFill>
                  <a:srgbClr val="2563EB"/>
                </a:solidFill>
              </a:rPr>
              <a:t>変換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sz="2800" b="1" dirty="0">
                <a:solidFill>
                  <a:srgbClr val="1F2937"/>
                </a:solidFill>
              </a:rPr>
              <a:t>2. 変換された関数のゲスト側実行</a:t>
            </a:r>
          </a:p>
        </p:txBody>
      </p:sp>
      <p:sp>
        <p:nvSpPr>
          <p:cNvPr id="3" name="Conten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Font typeface="Arial"/>
              <a:buChar char="•"/>
            </a:pPr>
            <a:r>
              <a:rPr lang="ja-JP" sz="2000" dirty="0"/>
              <a:t>uk_syscall_r_* はUnikraft内の通常のCライブラリ関数</a:t>
            </a:r>
          </a:p>
          <a:p>
            <a:pPr marL="685800" lvl="1" indent="-342900">
              <a:buFont typeface="Arial"/>
              <a:buChar char="–"/>
            </a:pPr>
            <a:r>
              <a:rPr lang="ja-JP" sz="1700" dirty="0"/>
              <a:t>ゲストVMのCPUコンテキスト内で最初から最後まで完結</a:t>
            </a:r>
          </a:p>
          <a:p>
            <a:pPr marL="342900" lvl="0" indent="-342900">
              <a:buFont typeface="Arial"/>
              <a:buChar char="•"/>
            </a:pPr>
            <a:r>
              <a:rPr lang="ja-JP" sz="2000" dirty="0"/>
              <a:t>syscall.S内の cli/sti（IRQ無効化区間）はCPU特権命令であってVM Exitではない</a:t>
            </a:r>
          </a:p>
          <a:p>
            <a:pPr marL="685800" lvl="1" indent="-342900">
              <a:buFont typeface="Arial"/>
              <a:buChar char="–"/>
            </a:pPr>
            <a:r>
              <a:rPr lang="ja-JP" sz="1700" dirty="0"/>
              <a:t>KVMが許可している限りゲスト内で処理される</a:t>
            </a:r>
          </a:p>
          <a:p>
            <a:pPr marL="342900" lvl="0" indent="-342900">
              <a:buFont typeface="Arial"/>
              <a:buChar char="•"/>
            </a:pPr>
            <a:r>
              <a:rPr lang="ja-JP" sz="2000" b="1" dirty="0"/>
              <a:t>見た目はLinuxのカーネル空間実行と同じ（syscall命令からリターンまで）だが、実体はUnikraftライブラリの通常の関数呼び出し</a:t>
            </a:r>
          </a:p>
        </p:txBody>
      </p:sp>
      <p:sp>
        <p:nvSpPr>
          <p:cNvPr id="9" name="Tag"/>
          <p:cNvSpPr/>
          <p:nvPr/>
        </p:nvSpPr>
        <p:spPr>
          <a:xfrm>
            <a:off x="9448800" y="274638"/>
            <a:ext cx="2286000" cy="45720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txBody>
          <a:bodyPr anchor="ctr"/>
          <a:lstStyle/>
          <a:p>
            <a:pPr algn="ctr"/>
            <a:r>
              <a:rPr lang="ja-JP" sz="1200" b="1">
                <a:solidFill>
                  <a:srgbClr val="2563EB"/>
                </a:solidFill>
              </a:rPr>
              <a:t>ゲスト側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sz="2800" b="1" dirty="0">
                <a:solidFill>
                  <a:srgbClr val="1F2937"/>
                </a:solidFill>
              </a:rPr>
              <a:t>3. (2)はホスト側でどう実行されるか</a:t>
            </a:r>
          </a:p>
        </p:txBody>
      </p:sp>
      <p:sp>
        <p:nvSpPr>
          <p:cNvPr id="3" name="Conten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Font typeface="Arial"/>
              <a:buChar char="•"/>
            </a:pPr>
            <a:r>
              <a:rPr lang="ja-JP" sz="2000" b="1" dirty="0"/>
              <a:t>重要な発見: 大半のsyscallはホスト側で何も起きない</a:t>
            </a:r>
          </a:p>
          <a:p>
            <a:pPr marL="342900" lvl="0" indent="-342900">
              <a:buFont typeface="Arial"/>
              <a:buChar char="•"/>
            </a:pPr>
            <a:r>
              <a:rPr lang="ja-JP" sz="2000" dirty="0"/>
              <a:t>VM Exitが発生するのは、uk_syscall_r_*実装がホストの介在を要する操作（virtio-netのMMIO/PIO、割り込み、タイマ関連MSR等）を行った場合のみ</a:t>
            </a:r>
          </a:p>
          <a:p>
            <a:pPr marL="685800" lvl="1" indent="-342900">
              <a:buFont typeface="Arial"/>
              <a:buChar char="–"/>
            </a:pPr>
            <a:r>
              <a:rPr lang="ja-JP" sz="1700" dirty="0"/>
              <a:t>例: gettimeofdayがTSCを直読みするだけならVM Exit不要。accept4/recvfromは最終的にvirtio-netのMMIOに触れて初めてホストに見える</a:t>
            </a:r>
          </a:p>
          <a:p>
            <a:pPr marL="342900" lvl="0" indent="-342900">
              <a:buFont typeface="Arial"/>
              <a:buChar char="•"/>
            </a:pPr>
            <a:r>
              <a:rPr lang="ja-JP" sz="2000" dirty="0"/>
              <a:t>→ 既存ツールが_ukplat_syscallにソフトウェアブレークポイント(int3)を仕掛けている技術的根拠</a:t>
            </a:r>
          </a:p>
          <a:p>
            <a:pPr marL="685800" lvl="1" indent="-342900">
              <a:buFont typeface="Arial"/>
              <a:buChar char="–"/>
            </a:pPr>
            <a:r>
              <a:rPr lang="ja-JP" sz="1700" dirty="0"/>
              <a:t>syscall発行という事象自体がホストに自然には見えないため、人工的にトラップを作らないと観測点が存在しない</a:t>
            </a:r>
          </a:p>
          <a:p>
            <a:pPr marL="342900" lvl="0" indent="-342900">
              <a:buFont typeface="Arial"/>
              <a:buChar char="•"/>
            </a:pPr>
            <a:r>
              <a:rPr lang="ja-JP" sz="2000" b="1" dirty="0"/>
              <a:t>README Phase 3の95-99%オーバーヘッドは「本来見えないはずの処理を無理やり見えるようにするコスト」</a:t>
            </a:r>
          </a:p>
        </p:txBody>
      </p:sp>
      <p:sp>
        <p:nvSpPr>
          <p:cNvPr id="9" name="Tag"/>
          <p:cNvSpPr/>
          <p:nvPr/>
        </p:nvSpPr>
        <p:spPr>
          <a:xfrm>
            <a:off x="9448800" y="274638"/>
            <a:ext cx="2286000" cy="45720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txBody>
          <a:bodyPr anchor="ctr"/>
          <a:lstStyle/>
          <a:p>
            <a:pPr algn="ctr"/>
            <a:r>
              <a:rPr lang="ja-JP" sz="1200" b="1">
                <a:solidFill>
                  <a:srgbClr val="2563EB"/>
                </a:solidFill>
              </a:rPr>
              <a:t>ホスト側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sz="2800" b="1" dirty="0">
                <a:solidFill>
                  <a:srgbClr val="1F2937"/>
                </a:solidFill>
              </a:rPr>
              <a:t>引き続きLibVMIで監視できるのか</a:t>
            </a:r>
          </a:p>
        </p:txBody>
      </p:sp>
      <p:sp>
        <p:nvSpPr>
          <p:cNvPr id="3" name="Conten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Font typeface="Arial"/>
              <a:buChar char="•"/>
            </a:pPr>
            <a:r>
              <a:rPr lang="ja-JP" sz="2000" dirty="0"/>
              <a:t>既存結論（本ホスト）: Xen backend / KVM modern(kvmi) backend / KVM legacy(pmemaccess) backend いずれも不可</a:t>
            </a:r>
          </a:p>
          <a:p>
            <a:pPr marL="342900" lvl="0" indent="-342900">
              <a:buFont typeface="Arial"/>
              <a:buChar char="•"/>
            </a:pPr>
            <a:r>
              <a:rPr lang="ja-JP" sz="2000" b="1" dirty="0"/>
              <a:t>理論的補強: LibVMIが使えたとしても、syscall自体がVM Exitを起こさない事実から、breakpoint/EPT-violationイベントAPIも現行のGDB int3と同じ原理（人工的トラップ注入）に依存するしかない</a:t>
            </a:r>
          </a:p>
          <a:p>
            <a:pPr marL="342900" lvl="0" indent="-342900">
              <a:buFont typeface="Arial"/>
              <a:buChar char="•"/>
            </a:pPr>
            <a:r>
              <a:rPr lang="ja-JP" sz="2000" dirty="0"/>
              <a:t>LibVMIに切り替えても 95-99% オーバーヘッドという性質は変わらず、変わるのはトラップ後の通知経路だけ（QEMU gdbstubテキスト往復 vs kvmiイベントAPI）</a:t>
            </a:r>
          </a:p>
          <a:p>
            <a:pPr marL="342900" lvl="0" indent="-342900">
              <a:buFont typeface="Arial"/>
              <a:buChar char="•"/>
            </a:pPr>
            <a:r>
              <a:rPr lang="ja-JP" sz="2000" b="1" dirty="0"/>
              <a:t>TCG pluginアプローチが有望: 唯一「トラップではなくエミュレーション内フックとして無料で観測できる」経路</a:t>
            </a:r>
          </a:p>
        </p:txBody>
      </p:sp>
      <p:sp>
        <p:nvSpPr>
          <p:cNvPr id="9" name="Tag"/>
          <p:cNvSpPr/>
          <p:nvPr/>
        </p:nvSpPr>
        <p:spPr>
          <a:xfrm>
            <a:off x="9448800" y="274638"/>
            <a:ext cx="2286000" cy="45720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txBody>
          <a:bodyPr anchor="ctr"/>
          <a:lstStyle/>
          <a:p>
            <a:pPr algn="ctr"/>
            <a:r>
              <a:rPr lang="ja-JP" sz="1200" b="1">
                <a:solidFill>
                  <a:srgbClr val="2563EB"/>
                </a:solidFill>
              </a:rPr>
              <a:t>LibVMI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sz="2800" b="1" dirty="0">
                <a:solidFill>
                  <a:srgbClr val="1F2937"/>
                </a:solidFill>
              </a:rPr>
              <a:t>まとめと次ステップ</a:t>
            </a:r>
          </a:p>
        </p:txBody>
      </p:sp>
      <p:sp>
        <p:nvSpPr>
          <p:cNvPr id="3" name="Conten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Font typeface="Arial"/>
              <a:buChar char="•"/>
            </a:pPr>
            <a:r>
              <a:rPr lang="ja-JP" sz="2000" dirty="0"/>
              <a:t>syscall監視の必要性: ゲスト自己申告は侵害後信頼できないため、ホスト外部観測(VMI)が必要</a:t>
            </a:r>
          </a:p>
          <a:p>
            <a:pPr marL="342900" lvl="0" indent="-342900">
              <a:buFont typeface="Arial"/>
              <a:buChar char="•"/>
            </a:pPr>
            <a:r>
              <a:rPr lang="ja-JP" sz="2000" dirty="0"/>
              <a:t>Unikraftのsyscallはホストに自然には見えないため人工的トラップ(int3)が必須→これがオーバーヘッドの根本原因</a:t>
            </a:r>
          </a:p>
          <a:p>
            <a:pPr marL="342900" lvl="0" indent="-342900">
              <a:buFont typeface="Arial"/>
              <a:buChar char="•"/>
            </a:pPr>
            <a:r>
              <a:rPr lang="ja-JP" sz="2000" dirty="0"/>
              <a:t>LibVMIへの切り替えでもオーバーヘッド構造は変わらない</a:t>
            </a:r>
          </a:p>
          <a:p>
            <a:pPr marL="342900" lvl="0" indent="-342900">
              <a:buFont typeface="Arial"/>
              <a:buChar char="•"/>
            </a:pPr>
            <a:r>
              <a:rPr lang="ja-JP" sz="2000" b="1" dirty="0"/>
              <a:t>次フェーズ候補: (1) QEMU TCG plugin（in-process hook） / (2) nested kvmiサンドボックス</a:t>
            </a:r>
          </a:p>
          <a:p>
            <a:pPr marL="685800" lvl="1" indent="-342900">
              <a:buFont typeface="Arial"/>
              <a:buChar char="–"/>
            </a:pPr>
            <a:r>
              <a:rPr lang="ja-JP" sz="1700" dirty="0"/>
              <a:t>※どちらを採用するかは未決定（次回判断）</a:t>
            </a:r>
          </a:p>
        </p:txBody>
      </p:sp>
      <p:sp>
        <p:nvSpPr>
          <p:cNvPr id="9" name="Tag"/>
          <p:cNvSpPr/>
          <p:nvPr/>
        </p:nvSpPr>
        <p:spPr>
          <a:xfrm>
            <a:off x="9448800" y="274638"/>
            <a:ext cx="2286000" cy="45720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txBody>
          <a:bodyPr anchor="ctr"/>
          <a:lstStyle/>
          <a:p>
            <a:pPr algn="ctr"/>
            <a:r>
              <a:rPr lang="ja-JP" sz="1200" b="1">
                <a:solidFill>
                  <a:srgbClr val="2563EB"/>
                </a:solidFill>
              </a:rPr>
              <a:t>次アクション</a:t>
            </a:r>
          </a:p>
        </p:txBody>
      </p:sp>
    </p:spTree>
  </p:cSld>
</p:sld>
</file>

<file path=ppt/theme/theme1.xml><?xml version="1.0" encoding="utf-8"?>
<a:theme xmlns:a="http://schemas.openxmlformats.org/drawingml/2006/main" name="ProgressTheme">
  <a:themeElements>
    <a:clrScheme name="Progress">
      <a:dk1>
        <a:sysClr val="windowText" lastClr="000000"/>
      </a:dk1>
      <a:lt1>
        <a:sysClr val="window" lastClr="FFFFFF"/>
      </a:lt1>
      <a:dk2>
        <a:srgbClr val="1F2937"/>
      </a:dk2>
      <a:lt2>
        <a:srgbClr val="E5E7EB"/>
      </a:lt2>
      <a:accent1>
        <a:srgbClr val="2563EB"/>
      </a:accent1>
      <a:accent2>
        <a:srgbClr val="0EA5E9"/>
      </a:accent2>
      <a:accent3>
        <a:srgbClr val="059669"/>
      </a:accent3>
      <a:accent4>
        <a:srgbClr val="D97706"/>
      </a:accent4>
      <a:accent5>
        <a:srgbClr val="DC2626"/>
      </a:accent5>
      <a:accent6>
        <a:srgbClr val="7C3AED"/>
      </a:accent6>
      <a:hlink>
        <a:srgbClr val="2563EB"/>
      </a:hlink>
      <a:folHlink>
        <a:srgbClr val="7C3AED"/>
      </a:folHlink>
    </a:clrScheme>
    <a:fontScheme name="Progress">
      <a:majorFont>
        <a:latin typeface="Calibri"/>
        <a:ea typeface="Yu Gothic"/>
        <a:cs typeface="Calibri"/>
      </a:majorFont>
      <a:minorFont>
        <a:latin typeface="Calibri"/>
        <a:ea typeface="Yu Gothic"/>
        <a:cs typeface="Calibri"/>
      </a:minorFont>
    </a:fontScheme>
    <a:fmtScheme name="Progres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Claude Code pptx builder</Application>
  <Slides>8</Slides>
  <TitlesOfParts>
    <vt:vector size="8" baseType="lpstr"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Unikraft/nginx VMI システムコール監視 進捗報告</dc:title>
  <dc:creator>Claude Code</dc:creator>
  <cp:lastModifiedBy>Claude Code</cp:lastModifiedBy>
  <dcterms:created xsi:type="dcterms:W3CDTF">2026-07-07T00:00:00Z</dcterms:created>
  <dcterms:modified xsi:type="dcterms:W3CDTF">2026-07-07T00:00:00Z</dcterms:modified>
</cp:coreProperties>
</file>